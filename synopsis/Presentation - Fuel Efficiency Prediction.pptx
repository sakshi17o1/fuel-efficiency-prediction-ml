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6" r:id="rId1"/>
  </p:sldMasterIdLst>
  <p:sldIdLst>
    <p:sldId id="256" r:id="rId2"/>
    <p:sldId id="257" r:id="rId3"/>
    <p:sldId id="258" r:id="rId4"/>
    <p:sldId id="260" r:id="rId5"/>
    <p:sldId id="268" r:id="rId6"/>
    <p:sldId id="259" r:id="rId7"/>
    <p:sldId id="263" r:id="rId8"/>
    <p:sldId id="262" r:id="rId9"/>
    <p:sldId id="264" r:id="rId10"/>
    <p:sldId id="265" r:id="rId11"/>
    <p:sldId id="261" r:id="rId12"/>
    <p:sldId id="266" r:id="rId13"/>
  </p:sldIdLst>
  <p:sldSz cx="18288000" cy="10287000"/>
  <p:notesSz cx="6858000" cy="9144000"/>
  <p:embeddedFontLst>
    <p:embeddedFont>
      <p:font typeface="Helvetica World" panose="020B0604020202020204" charset="-128"/>
      <p:regular r:id="rId14"/>
    </p:embeddedFont>
    <p:embeddedFont>
      <p:font typeface="Century Gothic" panose="020B0502020202020204" pitchFamily="34" charset="0"/>
      <p:regular r:id="rId15"/>
      <p:bold r:id="rId16"/>
      <p:italic r:id="rId17"/>
      <p:boldItalic r:id="rId18"/>
    </p:embeddedFont>
    <p:embeddedFont>
      <p:font typeface="Georgia Pro Condensed" panose="020B0604020202020204" charset="0"/>
      <p:regular r:id="rId19"/>
    </p:embeddedFont>
    <p:embeddedFont>
      <p:font typeface="Wingdings 3" panose="05040102010807070707" pitchFamily="18" charset="2"/>
      <p:regular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338A41-801A-464B-8968-07006D1B8AC2}" v="18" dt="2026-02-10T12:40:53.6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22" autoAdjust="0"/>
  </p:normalViewPr>
  <p:slideViewPr>
    <p:cSldViewPr>
      <p:cViewPr varScale="1">
        <p:scale>
          <a:sx n="53" d="100"/>
          <a:sy n="53" d="100"/>
        </p:scale>
        <p:origin x="585"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32433" y="2171701"/>
            <a:ext cx="13238487" cy="4994372"/>
          </a:xfrm>
        </p:spPr>
        <p:txBody>
          <a:bodyPr anchor="b"/>
          <a:lstStyle>
            <a:lvl1pPr>
              <a:defRPr sz="10800"/>
            </a:lvl1pPr>
          </a:lstStyle>
          <a:p>
            <a:r>
              <a:rPr lang="en-US"/>
              <a:t>Click to edit Master title style</a:t>
            </a:r>
            <a:endParaRPr lang="en-US" dirty="0"/>
          </a:p>
        </p:txBody>
      </p:sp>
      <p:sp>
        <p:nvSpPr>
          <p:cNvPr id="3" name="Subtitle 2"/>
          <p:cNvSpPr>
            <a:spLocks noGrp="1"/>
          </p:cNvSpPr>
          <p:nvPr>
            <p:ph type="subTitle" idx="1"/>
          </p:nvPr>
        </p:nvSpPr>
        <p:spPr>
          <a:xfrm>
            <a:off x="1732433" y="7166070"/>
            <a:ext cx="13238487" cy="1292130"/>
          </a:xfrm>
        </p:spPr>
        <p:txBody>
          <a:bodyPr anchor="t"/>
          <a:lstStyle>
            <a:lvl1pPr marL="0" indent="0" algn="l">
              <a:buNone/>
              <a:defRPr cap="all">
                <a:solidFill>
                  <a:schemeClr val="accent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23752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9420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32435" y="4292600"/>
            <a:ext cx="13238486" cy="2873471"/>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732433" y="7166072"/>
            <a:ext cx="13238487" cy="1290600"/>
          </a:xfrm>
        </p:spPr>
        <p:txBody>
          <a:bodyPr anchor="t"/>
          <a:lstStyle>
            <a:lvl1pPr marL="0" indent="0" algn="l">
              <a:buNone/>
              <a:defRPr sz="3000" cap="all">
                <a:solidFill>
                  <a:schemeClr val="accent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22823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654969" y="3090863"/>
            <a:ext cx="6594509" cy="6293645"/>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481740" y="3084139"/>
            <a:ext cx="6594512" cy="6300368"/>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15642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654970" y="2857500"/>
            <a:ext cx="6594507"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54969" y="3771900"/>
            <a:ext cx="6594509" cy="5612607"/>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481743" y="2857500"/>
            <a:ext cx="6594509"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8481743" y="3771900"/>
            <a:ext cx="6594509" cy="5612607"/>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3024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23595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30852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2431" y="2171700"/>
            <a:ext cx="5101596" cy="2171700"/>
          </a:xfrm>
        </p:spPr>
        <p:txBody>
          <a:bodyPr anchor="b"/>
          <a:lstStyle>
            <a:lvl1pPr algn="l">
              <a:defRPr sz="3600" b="0"/>
            </a:lvl1pPr>
          </a:lstStyle>
          <a:p>
            <a:r>
              <a:rPr lang="en-US"/>
              <a:t>Click to edit Master title style</a:t>
            </a:r>
            <a:endParaRPr lang="en-US" dirty="0"/>
          </a:p>
        </p:txBody>
      </p:sp>
      <p:sp>
        <p:nvSpPr>
          <p:cNvPr id="3" name="Content Placeholder 2"/>
          <p:cNvSpPr>
            <a:spLocks noGrp="1"/>
          </p:cNvSpPr>
          <p:nvPr>
            <p:ph idx="1"/>
          </p:nvPr>
        </p:nvSpPr>
        <p:spPr>
          <a:xfrm>
            <a:off x="7176925" y="2171700"/>
            <a:ext cx="7793996" cy="6858000"/>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32432" y="4693921"/>
            <a:ext cx="5101595" cy="4343399"/>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7"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928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0861" y="2781288"/>
            <a:ext cx="7639359" cy="2362212"/>
          </a:xfrm>
        </p:spPr>
        <p:txBody>
          <a:bodyPr anchor="b">
            <a:normAutofit/>
          </a:bodyPr>
          <a:lstStyle>
            <a:lvl1pPr algn="l">
              <a:defRPr sz="5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24319" y="1714500"/>
            <a:ext cx="4800600" cy="6858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32432" y="5486400"/>
            <a:ext cx="7627469" cy="2057400"/>
          </a:xfrm>
        </p:spPr>
        <p:txBody>
          <a:bodyPr>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3878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2435" y="7200880"/>
            <a:ext cx="13238486"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32433" y="1028700"/>
            <a:ext cx="13238487" cy="546099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32434" y="8050988"/>
            <a:ext cx="13238484" cy="740568"/>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4009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732432" y="2171700"/>
            <a:ext cx="13238489" cy="2971800"/>
          </a:xfrm>
        </p:spPr>
        <p:txBody>
          <a:bodyPr/>
          <a:lstStyle>
            <a:lvl1pPr>
              <a:defRPr sz="7200"/>
            </a:lvl1pPr>
          </a:lstStyle>
          <a:p>
            <a:r>
              <a:rPr lang="en-US"/>
              <a:t>Click to edit Master title style</a:t>
            </a:r>
            <a:endParaRPr lang="en-US" dirty="0"/>
          </a:p>
        </p:txBody>
      </p:sp>
      <p:sp>
        <p:nvSpPr>
          <p:cNvPr id="8" name="Text Placeholder 3"/>
          <p:cNvSpPr>
            <a:spLocks noGrp="1"/>
          </p:cNvSpPr>
          <p:nvPr>
            <p:ph type="body" sz="half" idx="2"/>
          </p:nvPr>
        </p:nvSpPr>
        <p:spPr>
          <a:xfrm>
            <a:off x="1732432" y="5486400"/>
            <a:ext cx="13238489" cy="354330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6184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62202" y="2171700"/>
            <a:ext cx="11998973" cy="3485061"/>
          </a:xfrm>
        </p:spPr>
        <p:txBody>
          <a:bodyPr/>
          <a:lstStyle>
            <a:lvl1pPr>
              <a:defRPr sz="7200"/>
            </a:lvl1pPr>
          </a:lstStyle>
          <a:p>
            <a:r>
              <a:rPr lang="en-US"/>
              <a:t>Click to edit Master title style</a:t>
            </a:r>
            <a:endParaRPr lang="en-US" dirty="0"/>
          </a:p>
        </p:txBody>
      </p:sp>
      <p:sp>
        <p:nvSpPr>
          <p:cNvPr id="14" name="Text Placeholder 3"/>
          <p:cNvSpPr>
            <a:spLocks noGrp="1"/>
          </p:cNvSpPr>
          <p:nvPr>
            <p:ph type="body" sz="half" idx="13"/>
          </p:nvPr>
        </p:nvSpPr>
        <p:spPr>
          <a:xfrm>
            <a:off x="2895601" y="5656761"/>
            <a:ext cx="10919474" cy="513261"/>
          </a:xfrm>
        </p:spPr>
        <p:txBody>
          <a:bodyPr anchor="t">
            <a:normAutofit/>
          </a:bodyPr>
          <a:lstStyle>
            <a:lvl1pPr marL="0" indent="0">
              <a:buNone/>
              <a:defRPr lang="en-US" sz="2100" b="0" i="0" kern="1200" cap="small" dirty="0">
                <a:solidFill>
                  <a:schemeClr val="accent1"/>
                </a:solidFill>
                <a:latin typeface="+mj-lt"/>
                <a:ea typeface="+mj-ea"/>
                <a:cs typeface="+mj-cs"/>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0" name="Text Placeholder 3"/>
          <p:cNvSpPr>
            <a:spLocks noGrp="1"/>
          </p:cNvSpPr>
          <p:nvPr>
            <p:ph type="body" sz="half" idx="2"/>
          </p:nvPr>
        </p:nvSpPr>
        <p:spPr>
          <a:xfrm>
            <a:off x="1732432" y="6525986"/>
            <a:ext cx="13238489" cy="251460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9" name="TextBox 8"/>
          <p:cNvSpPr txBox="1"/>
          <p:nvPr/>
        </p:nvSpPr>
        <p:spPr>
          <a:xfrm>
            <a:off x="1347443" y="1456880"/>
            <a:ext cx="1202868" cy="2908489"/>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18300" dirty="0"/>
              <a:t>“</a:t>
            </a:r>
          </a:p>
        </p:txBody>
      </p:sp>
      <p:sp>
        <p:nvSpPr>
          <p:cNvPr id="13" name="TextBox 12"/>
          <p:cNvSpPr txBox="1"/>
          <p:nvPr/>
        </p:nvSpPr>
        <p:spPr>
          <a:xfrm>
            <a:off x="13995735" y="3920681"/>
            <a:ext cx="1202868" cy="2908489"/>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18300" dirty="0"/>
              <a:t>”</a:t>
            </a:r>
          </a:p>
        </p:txBody>
      </p:sp>
    </p:spTree>
    <p:extLst>
      <p:ext uri="{BB962C8B-B14F-4D97-AF65-F5344CB8AC3E}">
        <p14:creationId xmlns:p14="http://schemas.microsoft.com/office/powerpoint/2010/main" val="3957247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732431" y="4686302"/>
            <a:ext cx="13238490" cy="2479770"/>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732432" y="7166072"/>
            <a:ext cx="13238489" cy="1290600"/>
          </a:xfrm>
        </p:spPr>
        <p:txBody>
          <a:bodyPr anchor="t"/>
          <a:lstStyle>
            <a:lvl1pPr marL="0" indent="0" algn="l">
              <a:buNone/>
              <a:defRPr sz="3000" cap="none">
                <a:solidFill>
                  <a:schemeClr val="accent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2537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949421" y="2971800"/>
            <a:ext cx="4420299"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6" name="Text Placeholder 3"/>
          <p:cNvSpPr>
            <a:spLocks noGrp="1"/>
          </p:cNvSpPr>
          <p:nvPr>
            <p:ph type="body" sz="half" idx="15"/>
          </p:nvPr>
        </p:nvSpPr>
        <p:spPr>
          <a:xfrm>
            <a:off x="978695" y="4000500"/>
            <a:ext cx="4391025"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5825489" y="2971800"/>
            <a:ext cx="4404362"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9" name="Text Placeholder 3"/>
          <p:cNvSpPr>
            <a:spLocks noGrp="1"/>
          </p:cNvSpPr>
          <p:nvPr>
            <p:ph type="body" sz="half" idx="16"/>
          </p:nvPr>
        </p:nvSpPr>
        <p:spPr>
          <a:xfrm>
            <a:off x="5809659" y="4000500"/>
            <a:ext cx="4420191"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0687051" y="2971800"/>
            <a:ext cx="4398170"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Text Placeholder 3"/>
          <p:cNvSpPr>
            <a:spLocks noGrp="1"/>
          </p:cNvSpPr>
          <p:nvPr>
            <p:ph type="body" sz="half" idx="17"/>
          </p:nvPr>
        </p:nvSpPr>
        <p:spPr>
          <a:xfrm>
            <a:off x="10687051" y="4000500"/>
            <a:ext cx="4398170"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17" name="Straight Connector 16"/>
          <p:cNvCxnSpPr/>
          <p:nvPr/>
        </p:nvCxnSpPr>
        <p:spPr>
          <a:xfrm>
            <a:off x="5589213" y="3200400"/>
            <a:ext cx="0" cy="59436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0443341" y="3200400"/>
            <a:ext cx="0" cy="5950323"/>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3777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978695" y="6376424"/>
            <a:ext cx="4410075"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9" name="Picture Placeholder 2"/>
          <p:cNvSpPr>
            <a:spLocks noGrp="1" noChangeAspect="1"/>
          </p:cNvSpPr>
          <p:nvPr>
            <p:ph type="pic" idx="15"/>
          </p:nvPr>
        </p:nvSpPr>
        <p:spPr>
          <a:xfrm>
            <a:off x="978695" y="3314700"/>
            <a:ext cx="4410075"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2" name="Text Placeholder 3"/>
          <p:cNvSpPr>
            <a:spLocks noGrp="1"/>
          </p:cNvSpPr>
          <p:nvPr>
            <p:ph type="body" sz="half" idx="18"/>
          </p:nvPr>
        </p:nvSpPr>
        <p:spPr>
          <a:xfrm>
            <a:off x="978695" y="7240817"/>
            <a:ext cx="4410075"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5834063" y="6376424"/>
            <a:ext cx="4395788"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30" name="Picture Placeholder 2"/>
          <p:cNvSpPr>
            <a:spLocks noGrp="1" noChangeAspect="1"/>
          </p:cNvSpPr>
          <p:nvPr>
            <p:ph type="pic" idx="21"/>
          </p:nvPr>
        </p:nvSpPr>
        <p:spPr>
          <a:xfrm>
            <a:off x="5834062" y="3314700"/>
            <a:ext cx="4395788"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3" name="Text Placeholder 3"/>
          <p:cNvSpPr>
            <a:spLocks noGrp="1"/>
          </p:cNvSpPr>
          <p:nvPr>
            <p:ph type="body" sz="half" idx="19"/>
          </p:nvPr>
        </p:nvSpPr>
        <p:spPr>
          <a:xfrm>
            <a:off x="5832033" y="7240816"/>
            <a:ext cx="4401609"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0687051" y="6376424"/>
            <a:ext cx="4398170"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31" name="Picture Placeholder 2"/>
          <p:cNvSpPr>
            <a:spLocks noGrp="1" noChangeAspect="1"/>
          </p:cNvSpPr>
          <p:nvPr>
            <p:ph type="pic" idx="22"/>
          </p:nvPr>
        </p:nvSpPr>
        <p:spPr>
          <a:xfrm>
            <a:off x="10687049" y="3314700"/>
            <a:ext cx="4398170"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4" name="Text Placeholder 3"/>
          <p:cNvSpPr>
            <a:spLocks noGrp="1"/>
          </p:cNvSpPr>
          <p:nvPr>
            <p:ph type="body" sz="half" idx="20"/>
          </p:nvPr>
        </p:nvSpPr>
        <p:spPr>
          <a:xfrm>
            <a:off x="10686863" y="7240813"/>
            <a:ext cx="4403996"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17" name="Straight Connector 16"/>
          <p:cNvCxnSpPr/>
          <p:nvPr/>
        </p:nvCxnSpPr>
        <p:spPr>
          <a:xfrm>
            <a:off x="5589213" y="3200400"/>
            <a:ext cx="0" cy="59436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0443341" y="3200400"/>
            <a:ext cx="0" cy="5950323"/>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38589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06286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456319" y="645320"/>
            <a:ext cx="2628902" cy="8739188"/>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978695" y="1331121"/>
            <a:ext cx="11134724" cy="80533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88544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4004528"/>
            <a:ext cx="6055518" cy="6282473"/>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4338521"/>
            <a:ext cx="2283618" cy="3548180"/>
          </a:xfrm>
          <a:prstGeom prst="rect">
            <a:avLst/>
          </a:prstGeom>
        </p:spPr>
      </p:pic>
      <p:sp>
        <p:nvSpPr>
          <p:cNvPr id="16" name="Oval 15"/>
          <p:cNvSpPr/>
          <p:nvPr/>
        </p:nvSpPr>
        <p:spPr>
          <a:xfrm>
            <a:off x="12913518" y="2514600"/>
            <a:ext cx="4229100" cy="42291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1999119" y="1"/>
            <a:ext cx="2405081" cy="1712111"/>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2913518" y="9144000"/>
            <a:ext cx="1490601" cy="1143000"/>
          </a:xfrm>
          <a:prstGeom prst="rect">
            <a:avLst/>
          </a:prstGeom>
        </p:spPr>
      </p:pic>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969167" y="679077"/>
            <a:ext cx="14107085" cy="2100795"/>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654969" y="3079378"/>
            <a:ext cx="13419812" cy="62932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5233459" y="2686052"/>
            <a:ext cx="1485899" cy="457199"/>
          </a:xfrm>
          <a:prstGeom prst="rect">
            <a:avLst/>
          </a:prstGeom>
        </p:spPr>
        <p:txBody>
          <a:bodyPr vert="horz" lIns="91440" tIns="45720" rIns="91440" bIns="45720" rtlCol="0" anchor="t"/>
          <a:lstStyle>
            <a:lvl1pPr algn="l">
              <a:defRPr sz="1650" b="0" i="0">
                <a:solidFill>
                  <a:schemeClr val="tx1">
                    <a:tint val="75000"/>
                    <a:alpha val="60000"/>
                  </a:schemeClr>
                </a:solidFill>
              </a:defRPr>
            </a:lvl1pPr>
          </a:lstStyle>
          <a:p>
            <a:fld id="{1D8BD707-D9CF-40AE-B4C6-C98DA3205C09}" type="datetimeFigureOut">
              <a:rPr lang="en-US" smtClean="0"/>
              <a:pPr/>
              <a:t>2/11/2026</a:t>
            </a:fld>
            <a:endParaRPr lang="en-US"/>
          </a:p>
        </p:txBody>
      </p:sp>
      <p:sp>
        <p:nvSpPr>
          <p:cNvPr id="5" name="Footer Placeholder 4"/>
          <p:cNvSpPr>
            <a:spLocks noGrp="1"/>
          </p:cNvSpPr>
          <p:nvPr>
            <p:ph type="ftr" sz="quarter" idx="3"/>
          </p:nvPr>
        </p:nvSpPr>
        <p:spPr>
          <a:xfrm rot="5400000">
            <a:off x="13427360" y="4837946"/>
            <a:ext cx="5789693" cy="457202"/>
          </a:xfrm>
          <a:prstGeom prst="rect">
            <a:avLst/>
          </a:prstGeom>
        </p:spPr>
        <p:txBody>
          <a:bodyPr vert="horz" lIns="91440" tIns="45720" rIns="91440" bIns="45720" rtlCol="0" anchor="b"/>
          <a:lstStyle>
            <a:lvl1pPr algn="l">
              <a:defRPr sz="165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5528811" y="443594"/>
            <a:ext cx="1257299" cy="1151531"/>
          </a:xfrm>
          <a:prstGeom prst="rect">
            <a:avLst/>
          </a:prstGeom>
        </p:spPr>
        <p:txBody>
          <a:bodyPr vert="horz" lIns="91440" tIns="45720" rIns="91440" bIns="45720" rtlCol="0" anchor="b"/>
          <a:lstStyle>
            <a:lvl1pPr algn="ctr">
              <a:defRPr sz="4200" b="0" i="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06226967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685800" rtl="0" eaLnBrk="1" latinLnBrk="0" hangingPunct="1">
        <a:spcBef>
          <a:spcPct val="0"/>
        </a:spcBef>
        <a:buNone/>
        <a:defRPr sz="63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3000" b="0" i="0" kern="1200">
          <a:solidFill>
            <a:schemeClr val="tx1"/>
          </a:solidFill>
          <a:latin typeface="+mj-lt"/>
          <a:ea typeface="+mj-ea"/>
          <a:cs typeface="+mj-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700" b="0" i="0" kern="1200">
          <a:solidFill>
            <a:schemeClr val="tx1"/>
          </a:solidFill>
          <a:latin typeface="+mj-lt"/>
          <a:ea typeface="+mj-ea"/>
          <a:cs typeface="+mj-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400" b="0" i="0" kern="1200">
          <a:solidFill>
            <a:schemeClr val="tx1"/>
          </a:solidFill>
          <a:latin typeface="+mj-lt"/>
          <a:ea typeface="+mj-ea"/>
          <a:cs typeface="+mj-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2100" b="0" i="0" kern="1200">
          <a:solidFill>
            <a:schemeClr val="tx1"/>
          </a:solidFill>
          <a:latin typeface="+mj-lt"/>
          <a:ea typeface="+mj-ea"/>
          <a:cs typeface="+mj-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2100" b="0" i="0" kern="1200">
          <a:solidFill>
            <a:schemeClr val="tx1"/>
          </a:solidFill>
          <a:latin typeface="+mj-lt"/>
          <a:ea typeface="+mj-ea"/>
          <a:cs typeface="+mj-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2100" b="0" i="0" kern="1200">
          <a:solidFill>
            <a:schemeClr val="tx1"/>
          </a:solidFill>
          <a:latin typeface="+mj-lt"/>
          <a:ea typeface="+mj-ea"/>
          <a:cs typeface="+mj-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2100" b="0" i="0" kern="1200">
          <a:solidFill>
            <a:schemeClr val="tx1"/>
          </a:solidFill>
          <a:latin typeface="+mj-lt"/>
          <a:ea typeface="+mj-ea"/>
          <a:cs typeface="+mj-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2100" b="0" i="0" kern="1200">
          <a:solidFill>
            <a:schemeClr val="tx1"/>
          </a:solidFill>
          <a:latin typeface="+mj-lt"/>
          <a:ea typeface="+mj-ea"/>
          <a:cs typeface="+mj-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2100" b="0" i="0" kern="1200">
          <a:solidFill>
            <a:schemeClr val="tx1"/>
          </a:solidFill>
          <a:latin typeface="+mj-lt"/>
          <a:ea typeface="+mj-ea"/>
          <a:cs typeface="+mj-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grpSp>
        <p:nvGrpSpPr>
          <p:cNvPr id="2" name="Group 2"/>
          <p:cNvGrpSpPr/>
          <p:nvPr/>
        </p:nvGrpSpPr>
        <p:grpSpPr>
          <a:xfrm>
            <a:off x="21771" y="605"/>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2477C6"/>
            </a:solidFill>
          </p:spPr>
        </p:sp>
      </p:grpSp>
      <p:grpSp>
        <p:nvGrpSpPr>
          <p:cNvPr id="4" name="Group 4"/>
          <p:cNvGrpSpPr/>
          <p:nvPr/>
        </p:nvGrpSpPr>
        <p:grpSpPr>
          <a:xfrm>
            <a:off x="11868150" y="876300"/>
            <a:ext cx="5753100" cy="874395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579" r="-579"/>
              </a:stretch>
            </a:blipFill>
          </p:spPr>
        </p:sp>
      </p:grpSp>
      <p:sp>
        <p:nvSpPr>
          <p:cNvPr id="6" name="TextBox 6"/>
          <p:cNvSpPr txBox="1"/>
          <p:nvPr/>
        </p:nvSpPr>
        <p:spPr>
          <a:xfrm>
            <a:off x="838200" y="7769743"/>
            <a:ext cx="10221219" cy="1850507"/>
          </a:xfrm>
          <a:prstGeom prst="rect">
            <a:avLst/>
          </a:prstGeom>
        </p:spPr>
        <p:txBody>
          <a:bodyPr wrap="square" lIns="0" tIns="0" rIns="0" bIns="0" rtlCol="0" anchor="t">
            <a:spAutoFit/>
          </a:bodyPr>
          <a:lstStyle/>
          <a:p>
            <a:pPr marL="0" lvl="0" indent="0" algn="l">
              <a:lnSpc>
                <a:spcPts val="4940"/>
              </a:lnSpc>
            </a:pPr>
            <a:r>
              <a:rPr lang="en-US" sz="3800" u="none" strike="noStrike" spc="-57" dirty="0">
                <a:solidFill>
                  <a:srgbClr val="FFFFFF"/>
                </a:solidFill>
                <a:latin typeface="Helvetica World"/>
                <a:ea typeface="Helvetica World"/>
                <a:cs typeface="Helvetica World"/>
                <a:sym typeface="Helvetica World"/>
              </a:rPr>
              <a:t>Project team: </a:t>
            </a:r>
          </a:p>
          <a:p>
            <a:pPr marL="0" lvl="0" indent="0" algn="l">
              <a:lnSpc>
                <a:spcPts val="4940"/>
              </a:lnSpc>
            </a:pPr>
            <a:r>
              <a:rPr lang="en-US" sz="3800" u="none" strike="noStrike" spc="-57" dirty="0">
                <a:solidFill>
                  <a:srgbClr val="FFFFFF"/>
                </a:solidFill>
                <a:latin typeface="Helvetica World"/>
                <a:ea typeface="Helvetica World"/>
                <a:cs typeface="Helvetica World"/>
                <a:sym typeface="Helvetica World"/>
              </a:rPr>
              <a:t>Sakshi, Sandeep Kumar Yadav, Sahil,</a:t>
            </a:r>
            <a:endParaRPr lang="en-US" sz="3800" spc="-57" dirty="0">
              <a:solidFill>
                <a:srgbClr val="FFFFFF"/>
              </a:solidFill>
              <a:latin typeface="Helvetica World"/>
              <a:ea typeface="Helvetica World"/>
              <a:cs typeface="Helvetica World"/>
              <a:sym typeface="Helvetica World"/>
            </a:endParaRPr>
          </a:p>
          <a:p>
            <a:pPr marL="0" lvl="0" indent="0" algn="l">
              <a:lnSpc>
                <a:spcPts val="4940"/>
              </a:lnSpc>
            </a:pPr>
            <a:r>
              <a:rPr lang="en-US" sz="3800" u="none" strike="noStrike" spc="-57" dirty="0">
                <a:solidFill>
                  <a:srgbClr val="FFFFFF"/>
                </a:solidFill>
                <a:latin typeface="Helvetica World"/>
                <a:ea typeface="Helvetica World"/>
                <a:cs typeface="Helvetica World"/>
                <a:sym typeface="Helvetica World"/>
              </a:rPr>
              <a:t>Sahil Dhiman</a:t>
            </a:r>
          </a:p>
        </p:txBody>
      </p:sp>
      <p:sp>
        <p:nvSpPr>
          <p:cNvPr id="7" name="TextBox 7"/>
          <p:cNvSpPr txBox="1"/>
          <p:nvPr/>
        </p:nvSpPr>
        <p:spPr>
          <a:xfrm>
            <a:off x="609600" y="-30266"/>
            <a:ext cx="9448800" cy="7694414"/>
          </a:xfrm>
          <a:prstGeom prst="rect">
            <a:avLst/>
          </a:prstGeom>
        </p:spPr>
        <p:txBody>
          <a:bodyPr wrap="square" lIns="0" tIns="0" rIns="0" bIns="0" rtlCol="0" anchor="t">
            <a:spAutoFit/>
          </a:bodyPr>
          <a:lstStyle/>
          <a:p>
            <a:pPr marL="0" lvl="0" indent="0" algn="l">
              <a:lnSpc>
                <a:spcPts val="14956"/>
              </a:lnSpc>
            </a:pPr>
            <a:r>
              <a:rPr lang="en-US" sz="4000" u="none" strike="noStrike" spc="-523" dirty="0">
                <a:solidFill>
                  <a:srgbClr val="FFFFFF"/>
                </a:solidFill>
                <a:latin typeface="Times New Roman" panose="02020603050405020304" pitchFamily="18" charset="0"/>
                <a:ea typeface="Georgia Pro Condensed"/>
                <a:cs typeface="Times New Roman" panose="02020603050405020304" pitchFamily="18" charset="0"/>
                <a:sym typeface="Georgia Pro Condensed"/>
              </a:rPr>
              <a:t> B</a:t>
            </a:r>
            <a:r>
              <a:rPr lang="en-US" sz="4000" u="none" strike="noStrike" dirty="0">
                <a:solidFill>
                  <a:srgbClr val="FFFFFF"/>
                </a:solidFill>
                <a:latin typeface="Times New Roman" panose="02020603050405020304" pitchFamily="18" charset="0"/>
                <a:ea typeface="Georgia Pro Condensed"/>
                <a:cs typeface="Times New Roman" panose="02020603050405020304" pitchFamily="18" charset="0"/>
                <a:sym typeface="Georgia Pro Condensed"/>
              </a:rPr>
              <a:t>aba Banda Singh Engineering College</a:t>
            </a:r>
            <a:endParaRPr lang="en-US" sz="4000" u="none" strike="noStrike" spc="-523" dirty="0">
              <a:solidFill>
                <a:srgbClr val="FFFFFF"/>
              </a:solidFill>
              <a:latin typeface="Times New Roman" panose="02020603050405020304" pitchFamily="18" charset="0"/>
              <a:ea typeface="Georgia Pro Condensed"/>
              <a:cs typeface="Times New Roman" panose="02020603050405020304" pitchFamily="18" charset="0"/>
              <a:sym typeface="Georgia Pro Condensed"/>
            </a:endParaRPr>
          </a:p>
          <a:p>
            <a:pPr marL="0" lvl="0" indent="0" algn="ctr">
              <a:lnSpc>
                <a:spcPts val="14956"/>
              </a:lnSpc>
            </a:pPr>
            <a:r>
              <a:rPr lang="en-US" sz="12500" u="none" strike="noStrike" spc="-523" dirty="0">
                <a:solidFill>
                  <a:srgbClr val="FFFFFF"/>
                </a:solidFill>
                <a:latin typeface="Georgia Pro Condensed"/>
                <a:ea typeface="Georgia Pro Condensed"/>
                <a:cs typeface="Georgia Pro Condensed"/>
                <a:sym typeface="Georgia Pro Condensed"/>
              </a:rPr>
              <a:t>Fuel </a:t>
            </a:r>
          </a:p>
          <a:p>
            <a:pPr marL="0" lvl="0" indent="0" algn="ctr">
              <a:lnSpc>
                <a:spcPts val="14956"/>
              </a:lnSpc>
            </a:pPr>
            <a:r>
              <a:rPr lang="en-US" sz="12500" u="none" strike="noStrike" spc="-523" dirty="0">
                <a:solidFill>
                  <a:srgbClr val="FFFFFF"/>
                </a:solidFill>
                <a:latin typeface="Georgia Pro Condensed"/>
                <a:ea typeface="Georgia Pro Condensed"/>
                <a:cs typeface="Georgia Pro Condensed"/>
                <a:sym typeface="Georgia Pro Condensed"/>
              </a:rPr>
              <a:t>Efficiency Prediction</a:t>
            </a:r>
          </a:p>
        </p:txBody>
      </p:sp>
      <p:sp>
        <p:nvSpPr>
          <p:cNvPr id="8" name="Freeform 8"/>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1B2735"/>
            </a:solidFill>
          </p:spPr>
        </p:sp>
        <p:sp>
          <p:nvSpPr>
            <p:cNvPr id="4" name="TextBox 4"/>
            <p:cNvSpPr txBox="1"/>
            <p:nvPr/>
          </p:nvSpPr>
          <p:spPr>
            <a:xfrm>
              <a:off x="0" y="-57150"/>
              <a:ext cx="2368158" cy="940192"/>
            </a:xfrm>
            <a:prstGeom prst="rect">
              <a:avLst/>
            </a:prstGeom>
          </p:spPr>
          <p:txBody>
            <a:bodyPr lIns="50800" tIns="50800" rIns="50800" bIns="50800" rtlCol="0" anchor="ctr"/>
            <a:lstStyle/>
            <a:p>
              <a:pPr algn="ctr">
                <a:lnSpc>
                  <a:spcPts val="2800"/>
                </a:lnSpc>
              </a:pPr>
              <a:endParaRPr/>
            </a:p>
          </p:txBody>
        </p:sp>
      </p:grpSp>
      <p:sp>
        <p:nvSpPr>
          <p:cNvPr id="7" name="TextBox 7"/>
          <p:cNvSpPr txBox="1"/>
          <p:nvPr/>
        </p:nvSpPr>
        <p:spPr>
          <a:xfrm>
            <a:off x="508752" y="800100"/>
            <a:ext cx="16255248" cy="1025922"/>
          </a:xfrm>
          <a:prstGeom prst="rect">
            <a:avLst/>
          </a:prstGeom>
        </p:spPr>
        <p:txBody>
          <a:bodyPr wrap="square" lIns="0" tIns="0" rIns="0" bIns="0" rtlCol="0" anchor="t">
            <a:spAutoFit/>
          </a:bodyPr>
          <a:lstStyle/>
          <a:p>
            <a:pPr marL="0" lvl="0" indent="0" algn="ctr">
              <a:lnSpc>
                <a:spcPts val="8000"/>
              </a:lnSpc>
              <a:spcBef>
                <a:spcPct val="0"/>
              </a:spcBef>
            </a:pPr>
            <a:r>
              <a:rPr lang="en-US" sz="8800" u="none" strike="noStrike" dirty="0">
                <a:solidFill>
                  <a:srgbClr val="4A90E2"/>
                </a:solidFill>
                <a:latin typeface="Georgia Pro Condensed"/>
                <a:ea typeface="Georgia Pro Condensed"/>
                <a:cs typeface="Georgia Pro Condensed"/>
                <a:sym typeface="Georgia Pro Condensed"/>
              </a:rPr>
              <a:t>Project Overview</a:t>
            </a:r>
          </a:p>
        </p:txBody>
      </p:sp>
      <p:sp>
        <p:nvSpPr>
          <p:cNvPr id="8" name="TextBox 8"/>
          <p:cNvSpPr txBox="1"/>
          <p:nvPr/>
        </p:nvSpPr>
        <p:spPr>
          <a:xfrm>
            <a:off x="1524000" y="2095500"/>
            <a:ext cx="16002000" cy="7598619"/>
          </a:xfrm>
          <a:prstGeom prst="rect">
            <a:avLst/>
          </a:prstGeom>
        </p:spPr>
        <p:txBody>
          <a:bodyPr wrap="square" lIns="0" tIns="0" rIns="0" bIns="0" rtlCol="0" anchor="t">
            <a:spAutoFit/>
          </a:bodyPr>
          <a:lstStyle/>
          <a:p>
            <a:pPr marL="539749" lvl="1" indent="-269875" algn="l">
              <a:lnSpc>
                <a:spcPts val="3499"/>
              </a:lnSpc>
              <a:buFont typeface="Arial"/>
              <a:buChar char="•"/>
            </a:pPr>
            <a:endParaRPr lang="en-US" sz="4000" spc="-37" dirty="0">
              <a:solidFill>
                <a:srgbClr val="FFFFFF"/>
              </a:solidFill>
              <a:latin typeface="Helvetica World"/>
              <a:ea typeface="Helvetica World"/>
              <a:cs typeface="Helvetica World"/>
              <a:sym typeface="Helvetica World"/>
            </a:endParaRPr>
          </a:p>
          <a:p>
            <a:pPr marL="539749" lvl="1" indent="-269875" algn="l">
              <a:lnSpc>
                <a:spcPts val="3499"/>
              </a:lnSpc>
              <a:buFont typeface="Arial"/>
              <a:buChar char="•"/>
            </a:pPr>
            <a:endParaRPr lang="en-US" sz="4000" spc="-37" dirty="0">
              <a:solidFill>
                <a:srgbClr val="FFFFFF"/>
              </a:solidFill>
              <a:latin typeface="Helvetica World"/>
              <a:ea typeface="Helvetica World"/>
              <a:cs typeface="Helvetica World"/>
              <a:sym typeface="Helvetica World"/>
            </a:endParaRPr>
          </a:p>
          <a:p>
            <a:pPr marL="539749" lvl="1" indent="-269875" algn="l">
              <a:lnSpc>
                <a:spcPts val="3499"/>
              </a:lnSpc>
              <a:buFont typeface="Arial"/>
              <a:buChar char="•"/>
            </a:pP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ML-ba</a:t>
            </a: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sed system to predict vehicle fuel efficiency</a:t>
            </a:r>
            <a:endPar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Uses key features: engine size, horsepower, weight, model year, etc.</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Trains multiple regression models for accuracy</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err="1">
                <a:solidFill>
                  <a:srgbClr val="FFFFFF"/>
                </a:solidFill>
                <a:latin typeface="Times New Roman" panose="02020603050405020304" pitchFamily="18" charset="0"/>
                <a:ea typeface="Helvetica World"/>
                <a:cs typeface="Times New Roman" panose="02020603050405020304" pitchFamily="18" charset="0"/>
                <a:sym typeface="Helvetica World"/>
              </a:rPr>
              <a:t>Streamlit</a:t>
            </a: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 web app for real-time user input and prediction</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Results displayed in MPG and km/l</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Provides visual graphs for better understanding</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Supports fuel-efficient and eco-friendly decisions</a:t>
            </a:r>
          </a:p>
          <a:p>
            <a:pPr marL="0" lvl="0" indent="0" algn="l">
              <a:lnSpc>
                <a:spcPts val="3499"/>
              </a:lnSpc>
            </a:pPr>
            <a:endParaRPr lang="en-US" sz="2499"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0" lvl="0" indent="0" algn="l">
              <a:lnSpc>
                <a:spcPts val="3499"/>
              </a:lnSpc>
            </a:pPr>
            <a:endParaRPr lang="en-US" sz="2499" u="none" strike="noStrike" spc="-37" dirty="0">
              <a:solidFill>
                <a:srgbClr val="FFFFFF"/>
              </a:solidFill>
              <a:latin typeface="Helvetica World"/>
              <a:ea typeface="Helvetica World"/>
              <a:cs typeface="Helvetica World"/>
              <a:sym typeface="Helvetica Wor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sp>
        <p:nvSpPr>
          <p:cNvPr id="4" name="TextBox 4"/>
          <p:cNvSpPr txBox="1"/>
          <p:nvPr/>
        </p:nvSpPr>
        <p:spPr>
          <a:xfrm>
            <a:off x="8545286" y="-216991"/>
            <a:ext cx="8991600" cy="3569791"/>
          </a:xfrm>
          <a:prstGeom prst="rect">
            <a:avLst/>
          </a:prstGeom>
        </p:spPr>
        <p:txBody>
          <a:bodyPr lIns="50800" tIns="50800" rIns="50800" bIns="50800" rtlCol="0" anchor="ctr"/>
          <a:lstStyle/>
          <a:p>
            <a:pPr algn="ctr">
              <a:lnSpc>
                <a:spcPts val="2800"/>
              </a:lnSpc>
            </a:pPr>
            <a:endParaRPr/>
          </a:p>
        </p:txBody>
      </p:sp>
      <p:sp>
        <p:nvSpPr>
          <p:cNvPr id="7" name="TextBox 7"/>
          <p:cNvSpPr txBox="1"/>
          <p:nvPr/>
        </p:nvSpPr>
        <p:spPr>
          <a:xfrm>
            <a:off x="666750" y="809625"/>
            <a:ext cx="16402050" cy="1025922"/>
          </a:xfrm>
          <a:prstGeom prst="rect">
            <a:avLst/>
          </a:prstGeom>
        </p:spPr>
        <p:txBody>
          <a:bodyPr wrap="square" lIns="0" tIns="0" rIns="0" bIns="0" rtlCol="0" anchor="t">
            <a:spAutoFit/>
          </a:bodyPr>
          <a:lstStyle/>
          <a:p>
            <a:pPr marL="0" lvl="0" indent="0" algn="ctr">
              <a:lnSpc>
                <a:spcPts val="8000"/>
              </a:lnSpc>
              <a:spcBef>
                <a:spcPct val="0"/>
              </a:spcBef>
            </a:pPr>
            <a:r>
              <a:rPr lang="en-US" sz="8000" u="none" strike="noStrike" dirty="0">
                <a:solidFill>
                  <a:srgbClr val="4A90E2"/>
                </a:solidFill>
                <a:latin typeface="Georgia Pro Condensed"/>
                <a:ea typeface="Georgia Pro Condensed"/>
                <a:cs typeface="Georgia Pro Condensed"/>
                <a:sym typeface="Georgia Pro Condensed"/>
              </a:rPr>
              <a:t>Project Objectives</a:t>
            </a:r>
          </a:p>
        </p:txBody>
      </p:sp>
      <p:sp>
        <p:nvSpPr>
          <p:cNvPr id="8" name="TextBox 8"/>
          <p:cNvSpPr txBox="1"/>
          <p:nvPr/>
        </p:nvSpPr>
        <p:spPr>
          <a:xfrm>
            <a:off x="1371600" y="2552700"/>
            <a:ext cx="16535400" cy="6695487"/>
          </a:xfrm>
          <a:prstGeom prst="rect">
            <a:avLst/>
          </a:prstGeom>
        </p:spPr>
        <p:txBody>
          <a:bodyPr wrap="square" lIns="0" tIns="0" rIns="0" bIns="0" rtlCol="0" anchor="t">
            <a:spAutoFit/>
          </a:bodyPr>
          <a:lstStyle/>
          <a:p>
            <a:pPr>
              <a:lnSpc>
                <a:spcPts val="3499"/>
              </a:lnSpc>
            </a:pPr>
            <a:endParaRPr lang="en-US" dirty="0">
              <a:latin typeface="Times New Roman" panose="02020603050405020304" pitchFamily="18" charset="0"/>
              <a:cs typeface="Times New Roman" panose="02020603050405020304" pitchFamily="18" charset="0"/>
            </a:endParaRPr>
          </a:p>
          <a:p>
            <a:pPr marL="539749" lvl="1" indent="-269875">
              <a:lnSpc>
                <a:spcPts val="3499"/>
              </a:lnSpc>
              <a:buFont typeface="Arial"/>
              <a:buChar char="•"/>
            </a:pP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To develop a machine learning model that accurately predicts vehicle fuel efficiency.</a:t>
            </a:r>
          </a:p>
          <a:p>
            <a:pPr marL="269874" lvl="1">
              <a:lnSpc>
                <a:spcPts val="3499"/>
              </a:lnSpc>
            </a:pPr>
            <a:endPar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nSpc>
                <a:spcPts val="3499"/>
              </a:lnSpc>
              <a:buFont typeface="Arial"/>
              <a:buChar char="•"/>
            </a:pP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To analyze the relationship between vehicle features and fuel consumption.</a:t>
            </a:r>
          </a:p>
          <a:p>
            <a:pPr marL="269874" lvl="1">
              <a:lnSpc>
                <a:spcPts val="3499"/>
              </a:lnSpc>
            </a:pPr>
            <a:endPar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nSpc>
                <a:spcPts val="3499"/>
              </a:lnSpc>
              <a:buFont typeface="Arial"/>
              <a:buChar char="•"/>
            </a:pP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To provide real-time fuel efficiency prediction through a user-friendly </a:t>
            </a:r>
            <a:r>
              <a:rPr lang="en-US" sz="4000" spc="-37" dirty="0" err="1">
                <a:solidFill>
                  <a:srgbClr val="FFFFFF"/>
                </a:solidFill>
                <a:latin typeface="Times New Roman" panose="02020603050405020304" pitchFamily="18" charset="0"/>
                <a:ea typeface="Helvetica World"/>
                <a:cs typeface="Times New Roman" panose="02020603050405020304" pitchFamily="18" charset="0"/>
                <a:sym typeface="Helvetica World"/>
              </a:rPr>
              <a:t>Streamlit</a:t>
            </a: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 web app.</a:t>
            </a:r>
          </a:p>
          <a:p>
            <a:pPr marL="269874" lvl="1">
              <a:lnSpc>
                <a:spcPts val="3499"/>
              </a:lnSpc>
            </a:pPr>
            <a:endPar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nSpc>
                <a:spcPts val="3499"/>
              </a:lnSpc>
              <a:buFont typeface="Arial"/>
              <a:buChar char="•"/>
            </a:pP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To display results in both MPG and km/l for better usability in India.</a:t>
            </a:r>
          </a:p>
          <a:p>
            <a:pPr marL="269874" lvl="1">
              <a:lnSpc>
                <a:spcPts val="3499"/>
              </a:lnSpc>
            </a:pPr>
            <a:endPar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nSpc>
                <a:spcPts val="3499"/>
              </a:lnSpc>
              <a:buFont typeface="Arial"/>
              <a:buChar char="•"/>
            </a:pP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To compare multiple ML models and select the most accurate one.</a:t>
            </a:r>
          </a:p>
          <a:p>
            <a:pPr marL="269874" lvl="1">
              <a:lnSpc>
                <a:spcPts val="3499"/>
              </a:lnSpc>
            </a:pPr>
            <a:endPar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nSpc>
                <a:spcPts val="3499"/>
              </a:lnSpc>
              <a:buFont typeface="Arial"/>
              <a:buChar char="•"/>
            </a:pP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To support environment-friendly and fuel-efficient driving decisions.</a:t>
            </a:r>
          </a:p>
          <a:p>
            <a:pPr lvl="0">
              <a:lnSpc>
                <a:spcPts val="3499"/>
              </a:lnSpc>
            </a:pPr>
            <a:endParaRPr lang="en-US" sz="2499"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1B2735"/>
            </a:solidFill>
          </p:spPr>
        </p:sp>
        <p:sp>
          <p:nvSpPr>
            <p:cNvPr id="4" name="TextBox 4"/>
            <p:cNvSpPr txBox="1"/>
            <p:nvPr/>
          </p:nvSpPr>
          <p:spPr>
            <a:xfrm>
              <a:off x="0" y="-57150"/>
              <a:ext cx="2368158" cy="940192"/>
            </a:xfrm>
            <a:prstGeom prst="rect">
              <a:avLst/>
            </a:prstGeom>
          </p:spPr>
          <p:txBody>
            <a:bodyPr lIns="50800" tIns="50800" rIns="50800" bIns="50800" rtlCol="0" anchor="ctr"/>
            <a:lstStyle/>
            <a:p>
              <a:pPr algn="ctr">
                <a:lnSpc>
                  <a:spcPts val="2800"/>
                </a:lnSpc>
              </a:pPr>
              <a:endParaRPr/>
            </a:p>
          </p:txBody>
        </p:sp>
      </p:grpSp>
      <p:sp>
        <p:nvSpPr>
          <p:cNvPr id="7" name="TextBox 7"/>
          <p:cNvSpPr txBox="1"/>
          <p:nvPr/>
        </p:nvSpPr>
        <p:spPr>
          <a:xfrm>
            <a:off x="666750" y="809625"/>
            <a:ext cx="16097250" cy="1025922"/>
          </a:xfrm>
          <a:prstGeom prst="rect">
            <a:avLst/>
          </a:prstGeom>
        </p:spPr>
        <p:txBody>
          <a:bodyPr wrap="square" lIns="0" tIns="0" rIns="0" bIns="0" rtlCol="0" anchor="t">
            <a:spAutoFit/>
          </a:bodyPr>
          <a:lstStyle/>
          <a:p>
            <a:pPr marL="0" lvl="0" indent="0" algn="l">
              <a:lnSpc>
                <a:spcPts val="8000"/>
              </a:lnSpc>
              <a:spcBef>
                <a:spcPct val="0"/>
              </a:spcBef>
            </a:pPr>
            <a:r>
              <a:rPr lang="en-US" sz="8000" u="none" strike="noStrike" dirty="0">
                <a:solidFill>
                  <a:srgbClr val="4A90E2"/>
                </a:solidFill>
                <a:latin typeface="Georgia Pro Condensed"/>
                <a:ea typeface="Georgia Pro Condensed"/>
                <a:cs typeface="Georgia Pro Condensed"/>
                <a:sym typeface="Georgia Pro Condensed"/>
              </a:rPr>
              <a:t>Literature Insights on ML Models</a:t>
            </a:r>
          </a:p>
        </p:txBody>
      </p:sp>
      <p:sp>
        <p:nvSpPr>
          <p:cNvPr id="8" name="TextBox 8"/>
          <p:cNvSpPr txBox="1"/>
          <p:nvPr/>
        </p:nvSpPr>
        <p:spPr>
          <a:xfrm>
            <a:off x="666750" y="2476500"/>
            <a:ext cx="16392525" cy="6246646"/>
          </a:xfrm>
          <a:prstGeom prst="rect">
            <a:avLst/>
          </a:prstGeom>
        </p:spPr>
        <p:txBody>
          <a:bodyPr wrap="square" lIns="0" tIns="0" rIns="0" bIns="0" rtlCol="0" anchor="t">
            <a:spAutoFit/>
          </a:bodyPr>
          <a:lstStyle/>
          <a:p>
            <a:pPr algn="l">
              <a:lnSpc>
                <a:spcPts val="3499"/>
              </a:lnSpc>
            </a:pPr>
            <a:endParaRPr dirty="0">
              <a:latin typeface="Times New Roman" panose="02020603050405020304" pitchFamily="18" charset="0"/>
              <a:cs typeface="Times New Roman" panose="02020603050405020304" pitchFamily="18" charset="0"/>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rPr>
              <a:t>ML outperforms traditional statistical methods</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rPr>
              <a:t>Handles complex, non-linear relationships in data</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rPr>
              <a:t>Regression models widely used (Linear, Random Forest, Gradient Boosting)</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rPr>
              <a:t>Auto MPG is a common benchmark dataset</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rPr>
              <a:t>Feature engineering improves model accuracy</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rPr>
              <a:t>Most studies lack real-time deployment — our project provides it</a:t>
            </a:r>
          </a:p>
          <a:p>
            <a:pPr algn="l">
              <a:lnSpc>
                <a:spcPts val="3499"/>
              </a:lnSpc>
            </a:pPr>
            <a:endParaRPr lang="en-US" sz="4000"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endParaRPr>
          </a:p>
          <a:p>
            <a:pPr marL="0" lvl="0" indent="0" algn="l">
              <a:lnSpc>
                <a:spcPts val="3499"/>
              </a:lnSpc>
            </a:pPr>
            <a:endParaRPr lang="en-US" sz="2499" u="none" strike="noStrike" spc="-37" dirty="0">
              <a:solidFill>
                <a:srgbClr val="FFFFFF"/>
              </a:solidFill>
              <a:latin typeface="Times New Roman" panose="02020603050405020304" pitchFamily="18" charset="0"/>
              <a:ea typeface="Helvetica World Bold"/>
              <a:cs typeface="Times New Roman" panose="02020603050405020304" pitchFamily="18" charset="0"/>
              <a:sym typeface="Helvetica World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BF81-996B-6CEE-7E76-07D890F6159C}"/>
            </a:ext>
          </a:extLst>
        </p:cNvPr>
        <p:cNvGrpSpPr/>
        <p:nvPr/>
      </p:nvGrpSpPr>
      <p:grpSpPr>
        <a:xfrm>
          <a:off x="0" y="0"/>
          <a:ext cx="0" cy="0"/>
          <a:chOff x="0" y="0"/>
          <a:chExt cx="0" cy="0"/>
        </a:xfrm>
      </p:grpSpPr>
      <p:sp>
        <p:nvSpPr>
          <p:cNvPr id="19" name="TextBox 19">
            <a:extLst>
              <a:ext uri="{FF2B5EF4-FFF2-40B4-BE49-F238E27FC236}">
                <a16:creationId xmlns:a16="http://schemas.microsoft.com/office/drawing/2014/main" id="{7E40C7B7-EFCD-46FA-76F0-DEAEA41CCD93}"/>
              </a:ext>
            </a:extLst>
          </p:cNvPr>
          <p:cNvSpPr txBox="1"/>
          <p:nvPr/>
        </p:nvSpPr>
        <p:spPr>
          <a:xfrm>
            <a:off x="762000" y="571500"/>
            <a:ext cx="11677648" cy="1025922"/>
          </a:xfrm>
          <a:prstGeom prst="rect">
            <a:avLst/>
          </a:prstGeom>
        </p:spPr>
        <p:txBody>
          <a:bodyPr wrap="square" lIns="0" tIns="0" rIns="0" bIns="0" rtlCol="0" anchor="t">
            <a:spAutoFit/>
          </a:bodyPr>
          <a:lstStyle/>
          <a:p>
            <a:pPr marL="0" lvl="0" indent="0" algn="l">
              <a:lnSpc>
                <a:spcPts val="8000"/>
              </a:lnSpc>
            </a:pPr>
            <a:r>
              <a:rPr lang="en-US" sz="8000" dirty="0">
                <a:solidFill>
                  <a:srgbClr val="4A90E2"/>
                </a:solidFill>
                <a:latin typeface="Georgia Pro Condensed"/>
                <a:ea typeface="Georgia Pro Condensed"/>
                <a:cs typeface="Georgia Pro Condensed"/>
                <a:sym typeface="Georgia Pro Condensed"/>
              </a:rPr>
              <a:t>Methodology Overview</a:t>
            </a:r>
          </a:p>
        </p:txBody>
      </p:sp>
      <p:pic>
        <p:nvPicPr>
          <p:cNvPr id="25" name="Picture 24">
            <a:extLst>
              <a:ext uri="{FF2B5EF4-FFF2-40B4-BE49-F238E27FC236}">
                <a16:creationId xmlns:a16="http://schemas.microsoft.com/office/drawing/2014/main" id="{F430734C-8F2E-3537-B54B-E44EA28C2B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019300"/>
            <a:ext cx="15925800" cy="7869039"/>
          </a:xfrm>
          <a:prstGeom prst="rect">
            <a:avLst/>
          </a:prstGeom>
        </p:spPr>
      </p:pic>
    </p:spTree>
    <p:extLst>
      <p:ext uri="{BB962C8B-B14F-4D97-AF65-F5344CB8AC3E}">
        <p14:creationId xmlns:p14="http://schemas.microsoft.com/office/powerpoint/2010/main" val="706262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sp>
        <p:nvSpPr>
          <p:cNvPr id="2" name="Freeform 2"/>
          <p:cNvSpPr/>
          <p:nvPr/>
        </p:nvSpPr>
        <p:spPr>
          <a:xfrm>
            <a:off x="5638800" y="647700"/>
            <a:ext cx="12082462" cy="8991600"/>
          </a:xfrm>
          <a:custGeom>
            <a:avLst/>
            <a:gdLst/>
            <a:ahLst/>
            <a:cxnLst/>
            <a:rect l="l" t="t" r="r" b="b"/>
            <a:pathLst>
              <a:path w="11304734" h="7661420">
                <a:moveTo>
                  <a:pt x="0" y="0"/>
                </a:moveTo>
                <a:lnTo>
                  <a:pt x="11304734" y="0"/>
                </a:lnTo>
                <a:lnTo>
                  <a:pt x="11304734" y="7661420"/>
                </a:lnTo>
                <a:lnTo>
                  <a:pt x="0" y="7661420"/>
                </a:lnTo>
                <a:lnTo>
                  <a:pt x="0" y="0"/>
                </a:lnTo>
                <a:close/>
              </a:path>
            </a:pathLst>
          </a:custGeom>
          <a:blipFill>
            <a:blip r:embed="rId2"/>
            <a:stretch>
              <a:fillRect l="-1657"/>
            </a:stretch>
          </a:blipFill>
        </p:spPr>
      </p:sp>
      <p:sp>
        <p:nvSpPr>
          <p:cNvPr id="4" name="TextBox 4"/>
          <p:cNvSpPr txBox="1"/>
          <p:nvPr/>
        </p:nvSpPr>
        <p:spPr>
          <a:xfrm>
            <a:off x="304800" y="3924300"/>
            <a:ext cx="5105400" cy="2571538"/>
          </a:xfrm>
          <a:prstGeom prst="rect">
            <a:avLst/>
          </a:prstGeom>
        </p:spPr>
        <p:txBody>
          <a:bodyPr wrap="square" lIns="0" tIns="0" rIns="0" bIns="0" rtlCol="0" anchor="t">
            <a:spAutoFit/>
          </a:bodyPr>
          <a:lstStyle/>
          <a:p>
            <a:pPr marL="0" lvl="0" indent="0" algn="ctr">
              <a:lnSpc>
                <a:spcPts val="10400"/>
              </a:lnSpc>
            </a:pPr>
            <a:r>
              <a:rPr lang="en-US" sz="8000" spc="-240" dirty="0">
                <a:solidFill>
                  <a:srgbClr val="4A90E2"/>
                </a:solidFill>
                <a:latin typeface="Georgia Pro Condensed"/>
                <a:ea typeface="Georgia Pro Condensed"/>
                <a:cs typeface="Georgia Pro Condensed"/>
                <a:sym typeface="Georgia Pro Condensed"/>
              </a:rPr>
              <a:t>Technologies </a:t>
            </a:r>
          </a:p>
          <a:p>
            <a:pPr marL="0" lvl="0" indent="0" algn="ctr">
              <a:lnSpc>
                <a:spcPts val="10400"/>
              </a:lnSpc>
            </a:pPr>
            <a:r>
              <a:rPr lang="en-US" sz="8000" spc="-240" dirty="0">
                <a:solidFill>
                  <a:srgbClr val="4A90E2"/>
                </a:solidFill>
                <a:latin typeface="Georgia Pro Condensed"/>
                <a:ea typeface="Georgia Pro Condensed"/>
                <a:cs typeface="Georgia Pro Condensed"/>
                <a:sym typeface="Georgia Pro Condensed"/>
              </a:rPr>
              <a:t>Used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sp>
        <p:nvSpPr>
          <p:cNvPr id="4" name="TextBox 4"/>
          <p:cNvSpPr txBox="1"/>
          <p:nvPr/>
        </p:nvSpPr>
        <p:spPr>
          <a:xfrm>
            <a:off x="1" y="-216991"/>
            <a:ext cx="18287999" cy="2674441"/>
          </a:xfrm>
          <a:prstGeom prst="rect">
            <a:avLst/>
          </a:prstGeom>
        </p:spPr>
        <p:txBody>
          <a:bodyPr lIns="50800" tIns="50800" rIns="50800" bIns="50800" rtlCol="0" anchor="ctr"/>
          <a:lstStyle/>
          <a:p>
            <a:pPr algn="ctr">
              <a:lnSpc>
                <a:spcPts val="2800"/>
              </a:lnSpc>
            </a:pPr>
            <a:endParaRPr/>
          </a:p>
        </p:txBody>
      </p:sp>
      <p:grpSp>
        <p:nvGrpSpPr>
          <p:cNvPr id="5" name="Group 5"/>
          <p:cNvGrpSpPr/>
          <p:nvPr/>
        </p:nvGrpSpPr>
        <p:grpSpPr>
          <a:xfrm>
            <a:off x="4648200" y="723900"/>
            <a:ext cx="13335000" cy="8915400"/>
            <a:chOff x="-234063" y="30319"/>
            <a:chExt cx="1239669" cy="927750"/>
          </a:xfrm>
        </p:grpSpPr>
        <p:sp>
          <p:nvSpPr>
            <p:cNvPr id="6" name="Freeform 6"/>
            <p:cNvSpPr/>
            <p:nvPr/>
          </p:nvSpPr>
          <p:spPr>
            <a:xfrm>
              <a:off x="-234063" y="30319"/>
              <a:ext cx="1239669" cy="927750"/>
            </a:xfrm>
            <a:custGeom>
              <a:avLst/>
              <a:gdLst/>
              <a:ahLst/>
              <a:cxnLst/>
              <a:rect l="l" t="t" r="r" b="b"/>
              <a:pathLst>
                <a:path w="1200859" h="1028235">
                  <a:moveTo>
                    <a:pt x="17590" y="0"/>
                  </a:moveTo>
                  <a:lnTo>
                    <a:pt x="1183269" y="0"/>
                  </a:lnTo>
                  <a:cubicBezTo>
                    <a:pt x="1187934" y="0"/>
                    <a:pt x="1192408" y="1853"/>
                    <a:pt x="1195707" y="5152"/>
                  </a:cubicBezTo>
                  <a:cubicBezTo>
                    <a:pt x="1199006" y="8451"/>
                    <a:pt x="1200859" y="12925"/>
                    <a:pt x="1200859" y="17590"/>
                  </a:cubicBezTo>
                  <a:lnTo>
                    <a:pt x="1200859" y="1010646"/>
                  </a:lnTo>
                  <a:cubicBezTo>
                    <a:pt x="1200859" y="1020360"/>
                    <a:pt x="1192984" y="1028235"/>
                    <a:pt x="1183269" y="1028235"/>
                  </a:cubicBezTo>
                  <a:lnTo>
                    <a:pt x="17590" y="1028235"/>
                  </a:lnTo>
                  <a:cubicBezTo>
                    <a:pt x="12925" y="1028235"/>
                    <a:pt x="8451" y="1026382"/>
                    <a:pt x="5152" y="1023084"/>
                  </a:cubicBezTo>
                  <a:cubicBezTo>
                    <a:pt x="1853" y="1019785"/>
                    <a:pt x="0" y="1015311"/>
                    <a:pt x="0" y="1010646"/>
                  </a:cubicBezTo>
                  <a:lnTo>
                    <a:pt x="0" y="17590"/>
                  </a:lnTo>
                  <a:cubicBezTo>
                    <a:pt x="0" y="12925"/>
                    <a:pt x="1853" y="8451"/>
                    <a:pt x="5152" y="5152"/>
                  </a:cubicBezTo>
                  <a:cubicBezTo>
                    <a:pt x="8451" y="1853"/>
                    <a:pt x="12925" y="0"/>
                    <a:pt x="17590" y="0"/>
                  </a:cubicBezTo>
                  <a:close/>
                </a:path>
              </a:pathLst>
            </a:custGeom>
            <a:blipFill>
              <a:blip r:embed="rId2"/>
              <a:srcRect/>
              <a:stretch>
                <a:fillRect t="-4012" b="-4012"/>
              </a:stretch>
            </a:blipFill>
          </p:spPr>
        </p:sp>
      </p:grpSp>
      <p:sp>
        <p:nvSpPr>
          <p:cNvPr id="7" name="TextBox 7"/>
          <p:cNvSpPr txBox="1"/>
          <p:nvPr/>
        </p:nvSpPr>
        <p:spPr>
          <a:xfrm>
            <a:off x="-228600" y="2857500"/>
            <a:ext cx="4972050" cy="4103688"/>
          </a:xfrm>
          <a:prstGeom prst="rect">
            <a:avLst/>
          </a:prstGeom>
        </p:spPr>
        <p:txBody>
          <a:bodyPr wrap="square" lIns="0" tIns="0" rIns="0" bIns="0" rtlCol="0" anchor="t">
            <a:spAutoFit/>
          </a:bodyPr>
          <a:lstStyle/>
          <a:p>
            <a:pPr marL="0" lvl="0" indent="0" algn="ctr">
              <a:lnSpc>
                <a:spcPts val="8000"/>
              </a:lnSpc>
            </a:pPr>
            <a:r>
              <a:rPr lang="en-US" sz="8000" spc="-240" dirty="0">
                <a:solidFill>
                  <a:srgbClr val="4A90E2"/>
                </a:solidFill>
                <a:latin typeface="Georgia Pro Condensed"/>
                <a:ea typeface="Georgia Pro Condensed"/>
                <a:cs typeface="Georgia Pro Condensed"/>
                <a:sym typeface="Georgia Pro Condensed"/>
              </a:rPr>
              <a:t>Model </a:t>
            </a:r>
          </a:p>
          <a:p>
            <a:pPr marL="0" lvl="0" indent="0" algn="ctr">
              <a:lnSpc>
                <a:spcPts val="8000"/>
              </a:lnSpc>
            </a:pPr>
            <a:r>
              <a:rPr lang="en-US" sz="8000" spc="-240" dirty="0">
                <a:solidFill>
                  <a:srgbClr val="4A90E2"/>
                </a:solidFill>
                <a:latin typeface="Georgia Pro Condensed"/>
                <a:ea typeface="Georgia Pro Condensed"/>
                <a:cs typeface="Georgia Pro Condensed"/>
                <a:sym typeface="Georgia Pro Condensed"/>
              </a:rPr>
              <a:t>Evaluation </a:t>
            </a:r>
          </a:p>
          <a:p>
            <a:pPr marL="0" lvl="0" indent="0" algn="ctr">
              <a:lnSpc>
                <a:spcPts val="8000"/>
              </a:lnSpc>
            </a:pPr>
            <a:r>
              <a:rPr lang="en-US" sz="8000" spc="-240" dirty="0">
                <a:solidFill>
                  <a:srgbClr val="4A90E2"/>
                </a:solidFill>
                <a:latin typeface="Georgia Pro Condensed"/>
                <a:ea typeface="Georgia Pro Condensed"/>
                <a:cs typeface="Georgia Pro Condensed"/>
                <a:sym typeface="Georgia Pro Condensed"/>
              </a:rPr>
              <a:t>and </a:t>
            </a:r>
          </a:p>
          <a:p>
            <a:pPr marL="0" lvl="0" indent="0" algn="ctr">
              <a:lnSpc>
                <a:spcPts val="8000"/>
              </a:lnSpc>
            </a:pPr>
            <a:r>
              <a:rPr lang="en-US" sz="8000" spc="-240" dirty="0">
                <a:solidFill>
                  <a:srgbClr val="4A90E2"/>
                </a:solidFill>
                <a:latin typeface="Georgia Pro Condensed"/>
                <a:ea typeface="Georgia Pro Condensed"/>
                <a:cs typeface="Georgia Pro Condensed"/>
                <a:sym typeface="Georgia Pro Condensed"/>
              </a:rPr>
              <a:t>Insights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1B2735"/>
            </a:solidFill>
          </p:spPr>
        </p:sp>
        <p:sp>
          <p:nvSpPr>
            <p:cNvPr id="4" name="TextBox 4"/>
            <p:cNvSpPr txBox="1"/>
            <p:nvPr/>
          </p:nvSpPr>
          <p:spPr>
            <a:xfrm>
              <a:off x="0" y="-57150"/>
              <a:ext cx="2368158" cy="940192"/>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5867400" y="495300"/>
            <a:ext cx="11887200" cy="9372600"/>
          </a:xfrm>
          <a:custGeom>
            <a:avLst/>
            <a:gdLst/>
            <a:ahLst/>
            <a:cxnLst/>
            <a:rect l="l" t="t" r="r" b="b"/>
            <a:pathLst>
              <a:path w="10101077" h="7138004">
                <a:moveTo>
                  <a:pt x="0" y="0"/>
                </a:moveTo>
                <a:lnTo>
                  <a:pt x="10101076" y="0"/>
                </a:lnTo>
                <a:lnTo>
                  <a:pt x="10101076" y="7138003"/>
                </a:lnTo>
                <a:lnTo>
                  <a:pt x="0" y="7138003"/>
                </a:lnTo>
                <a:lnTo>
                  <a:pt x="0" y="0"/>
                </a:lnTo>
                <a:close/>
              </a:path>
            </a:pathLst>
          </a:custGeom>
          <a:blipFill>
            <a:blip r:embed="rId2"/>
            <a:stretch>
              <a:fillRect l="-4581" r="-1417"/>
            </a:stretch>
          </a:blipFill>
        </p:spPr>
      </p:sp>
      <p:sp>
        <p:nvSpPr>
          <p:cNvPr id="6" name="TextBox 6"/>
          <p:cNvSpPr txBox="1"/>
          <p:nvPr/>
        </p:nvSpPr>
        <p:spPr>
          <a:xfrm>
            <a:off x="-76200" y="3642717"/>
            <a:ext cx="5810127" cy="3077766"/>
          </a:xfrm>
          <a:prstGeom prst="rect">
            <a:avLst/>
          </a:prstGeom>
        </p:spPr>
        <p:txBody>
          <a:bodyPr wrap="square" lIns="0" tIns="0" rIns="0" bIns="0" rtlCol="0" anchor="t">
            <a:spAutoFit/>
          </a:bodyPr>
          <a:lstStyle/>
          <a:p>
            <a:pPr marL="0" lvl="0" indent="0" algn="ctr">
              <a:lnSpc>
                <a:spcPts val="8000"/>
              </a:lnSpc>
              <a:spcBef>
                <a:spcPct val="0"/>
              </a:spcBef>
            </a:pPr>
            <a:r>
              <a:rPr lang="en-US" sz="8000" u="none" strike="noStrike" dirty="0">
                <a:solidFill>
                  <a:srgbClr val="4A90E2"/>
                </a:solidFill>
                <a:latin typeface="Georgia Pro Condensed"/>
                <a:ea typeface="Georgia Pro Condensed"/>
                <a:cs typeface="Georgia Pro Condensed"/>
                <a:sym typeface="Georgia Pro Condensed"/>
              </a:rPr>
              <a:t>System </a:t>
            </a:r>
          </a:p>
          <a:p>
            <a:pPr marL="0" lvl="0" indent="0" algn="ctr">
              <a:lnSpc>
                <a:spcPts val="8000"/>
              </a:lnSpc>
              <a:spcBef>
                <a:spcPct val="0"/>
              </a:spcBef>
            </a:pPr>
            <a:r>
              <a:rPr lang="en-US" sz="8000" u="none" strike="noStrike" dirty="0">
                <a:solidFill>
                  <a:srgbClr val="4A90E2"/>
                </a:solidFill>
                <a:latin typeface="Georgia Pro Condensed"/>
                <a:ea typeface="Georgia Pro Condensed"/>
                <a:cs typeface="Georgia Pro Condensed"/>
                <a:sym typeface="Georgia Pro Condensed"/>
              </a:rPr>
              <a:t>Architecture </a:t>
            </a:r>
          </a:p>
          <a:p>
            <a:pPr marL="0" lvl="0" indent="0" algn="ctr">
              <a:lnSpc>
                <a:spcPts val="8000"/>
              </a:lnSpc>
              <a:spcBef>
                <a:spcPct val="0"/>
              </a:spcBef>
            </a:pPr>
            <a:r>
              <a:rPr lang="en-US" sz="8000" u="none" strike="noStrike" dirty="0">
                <a:solidFill>
                  <a:srgbClr val="4A90E2"/>
                </a:solidFill>
                <a:latin typeface="Georgia Pro Condensed"/>
                <a:ea typeface="Georgia Pro Condensed"/>
                <a:cs typeface="Georgia Pro Condensed"/>
                <a:sym typeface="Georgia Pro Condensed"/>
              </a:rPr>
              <a:t>Overview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grpSp>
        <p:nvGrpSpPr>
          <p:cNvPr id="5" name="Group 5"/>
          <p:cNvGrpSpPr/>
          <p:nvPr/>
        </p:nvGrpSpPr>
        <p:grpSpPr>
          <a:xfrm>
            <a:off x="11277599" y="2299094"/>
            <a:ext cx="6400801" cy="7264005"/>
            <a:chOff x="0" y="0"/>
            <a:chExt cx="1220873" cy="1350966"/>
          </a:xfrm>
        </p:grpSpPr>
        <p:sp>
          <p:nvSpPr>
            <p:cNvPr id="6" name="Freeform 6"/>
            <p:cNvSpPr/>
            <p:nvPr/>
          </p:nvSpPr>
          <p:spPr>
            <a:xfrm>
              <a:off x="0" y="0"/>
              <a:ext cx="1220873" cy="1350966"/>
            </a:xfrm>
            <a:custGeom>
              <a:avLst/>
              <a:gdLst/>
              <a:ahLst/>
              <a:cxnLst/>
              <a:rect l="l" t="t" r="r" b="b"/>
              <a:pathLst>
                <a:path w="1220873" h="1350966">
                  <a:moveTo>
                    <a:pt x="0" y="0"/>
                  </a:moveTo>
                  <a:lnTo>
                    <a:pt x="1220873" y="0"/>
                  </a:lnTo>
                  <a:lnTo>
                    <a:pt x="1220873" y="1350966"/>
                  </a:lnTo>
                  <a:lnTo>
                    <a:pt x="0" y="1350966"/>
                  </a:lnTo>
                  <a:close/>
                </a:path>
              </a:pathLst>
            </a:custGeom>
            <a:blipFill>
              <a:blip r:embed="rId2"/>
              <a:stretch>
                <a:fillRect t="-415" b="-415"/>
              </a:stretch>
            </a:blipFill>
          </p:spPr>
        </p:sp>
      </p:grpSp>
      <p:sp>
        <p:nvSpPr>
          <p:cNvPr id="7" name="TextBox 7"/>
          <p:cNvSpPr txBox="1"/>
          <p:nvPr/>
        </p:nvSpPr>
        <p:spPr>
          <a:xfrm>
            <a:off x="609600" y="528091"/>
            <a:ext cx="9067800" cy="1025922"/>
          </a:xfrm>
          <a:prstGeom prst="rect">
            <a:avLst/>
          </a:prstGeom>
        </p:spPr>
        <p:txBody>
          <a:bodyPr wrap="square" lIns="0" tIns="0" rIns="0" bIns="0" rtlCol="0" anchor="t">
            <a:spAutoFit/>
          </a:bodyPr>
          <a:lstStyle/>
          <a:p>
            <a:pPr marL="0" lvl="0" indent="0" algn="l">
              <a:lnSpc>
                <a:spcPts val="8000"/>
              </a:lnSpc>
              <a:spcBef>
                <a:spcPct val="0"/>
              </a:spcBef>
            </a:pPr>
            <a:r>
              <a:rPr lang="en-US" sz="8000" u="none" strike="noStrike" dirty="0">
                <a:solidFill>
                  <a:srgbClr val="4A90E2"/>
                </a:solidFill>
                <a:latin typeface="Georgia Pro Condensed"/>
                <a:ea typeface="Georgia Pro Condensed"/>
                <a:cs typeface="Georgia Pro Condensed"/>
                <a:sym typeface="Georgia Pro Condensed"/>
              </a:rPr>
              <a:t>Key Project Outcomes</a:t>
            </a:r>
          </a:p>
        </p:txBody>
      </p:sp>
      <p:sp>
        <p:nvSpPr>
          <p:cNvPr id="8" name="TextBox 8"/>
          <p:cNvSpPr txBox="1"/>
          <p:nvPr/>
        </p:nvSpPr>
        <p:spPr>
          <a:xfrm>
            <a:off x="304800" y="2299095"/>
            <a:ext cx="10744200" cy="7638309"/>
          </a:xfrm>
          <a:prstGeom prst="rect">
            <a:avLst/>
          </a:prstGeom>
        </p:spPr>
        <p:txBody>
          <a:bodyPr wrap="square" lIns="0" tIns="0" rIns="0" bIns="0" rtlCol="0" anchor="t">
            <a:spAutoFit/>
          </a:bodyPr>
          <a:lstStyle/>
          <a:p>
            <a:pPr marL="539749" lvl="1" indent="-269875" algn="l">
              <a:lnSpc>
                <a:spcPts val="3499"/>
              </a:lnSpc>
              <a:buFont typeface="Arial"/>
              <a:buChar char="•"/>
            </a:pP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Accurat</a:t>
            </a: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e prediction of vehicle fuel efficiency</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Comparison of multiple ML models and selection of best one</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User-friendly </a:t>
            </a:r>
            <a:r>
              <a:rPr lang="en-US" sz="4000" u="none" strike="noStrike" spc="-37" dirty="0" err="1">
                <a:solidFill>
                  <a:srgbClr val="FFFFFF"/>
                </a:solidFill>
                <a:latin typeface="Times New Roman" panose="02020603050405020304" pitchFamily="18" charset="0"/>
                <a:ea typeface="Helvetica World"/>
                <a:cs typeface="Times New Roman" panose="02020603050405020304" pitchFamily="18" charset="0"/>
                <a:sym typeface="Helvetica World"/>
              </a:rPr>
              <a:t>Streamlit</a:t>
            </a: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 web application for real-time prediction</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Results shown in MPG and km/l</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Visual graphs for better interpretation of results</a:t>
            </a:r>
          </a:p>
          <a:p>
            <a:pPr marL="539749" lvl="1" indent="-269875" algn="l">
              <a:lnSpc>
                <a:spcPts val="3499"/>
              </a:lnSpc>
              <a:buFont typeface="Arial"/>
              <a:buChar char="•"/>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Reliable model saved using </a:t>
            </a:r>
            <a:r>
              <a:rPr lang="en-US" sz="4000" u="none" strike="noStrike" spc="-37" dirty="0" err="1">
                <a:solidFill>
                  <a:srgbClr val="FFFFFF"/>
                </a:solidFill>
                <a:latin typeface="Times New Roman" panose="02020603050405020304" pitchFamily="18" charset="0"/>
                <a:ea typeface="Helvetica World"/>
                <a:cs typeface="Times New Roman" panose="02020603050405020304" pitchFamily="18" charset="0"/>
                <a:sym typeface="Helvetica World"/>
              </a:rPr>
              <a:t>Joblib</a:t>
            </a: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 for reuse</a:t>
            </a:r>
          </a:p>
          <a:p>
            <a:pPr marL="539749" lvl="1" indent="-269875" algn="l">
              <a:lnSpc>
                <a:spcPts val="3499"/>
              </a:lnSpc>
              <a:buFont typeface="Arial"/>
              <a:buChar char="•"/>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Supports fuel-efficient and eco-friendly decision making</a:t>
            </a:r>
          </a:p>
          <a:p>
            <a:pPr marL="0" lvl="0" indent="0"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1B2735"/>
            </a:solidFill>
          </p:spPr>
        </p:sp>
        <p:sp>
          <p:nvSpPr>
            <p:cNvPr id="4" name="TextBox 4"/>
            <p:cNvSpPr txBox="1"/>
            <p:nvPr/>
          </p:nvSpPr>
          <p:spPr>
            <a:xfrm>
              <a:off x="0" y="-57150"/>
              <a:ext cx="2368158" cy="940192"/>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12039600" y="2312503"/>
            <a:ext cx="5867400" cy="6979252"/>
            <a:chOff x="0" y="0"/>
            <a:chExt cx="1220873" cy="1213112"/>
          </a:xfrm>
        </p:grpSpPr>
        <p:sp>
          <p:nvSpPr>
            <p:cNvPr id="6" name="Freeform 6"/>
            <p:cNvSpPr/>
            <p:nvPr/>
          </p:nvSpPr>
          <p:spPr>
            <a:xfrm>
              <a:off x="0" y="0"/>
              <a:ext cx="1220873" cy="1213112"/>
            </a:xfrm>
            <a:custGeom>
              <a:avLst/>
              <a:gdLst/>
              <a:ahLst/>
              <a:cxnLst/>
              <a:rect l="l" t="t" r="r" b="b"/>
              <a:pathLst>
                <a:path w="1220873" h="1350966">
                  <a:moveTo>
                    <a:pt x="0" y="0"/>
                  </a:moveTo>
                  <a:lnTo>
                    <a:pt x="1220873" y="0"/>
                  </a:lnTo>
                  <a:lnTo>
                    <a:pt x="1220873" y="1350966"/>
                  </a:lnTo>
                  <a:lnTo>
                    <a:pt x="0" y="1350966"/>
                  </a:lnTo>
                  <a:close/>
                </a:path>
              </a:pathLst>
            </a:custGeom>
            <a:blipFill>
              <a:blip r:embed="rId2"/>
              <a:stretch>
                <a:fillRect t="-415" b="-415"/>
              </a:stretch>
            </a:blipFill>
          </p:spPr>
        </p:sp>
      </p:grpSp>
      <p:sp>
        <p:nvSpPr>
          <p:cNvPr id="7" name="TextBox 7"/>
          <p:cNvSpPr txBox="1"/>
          <p:nvPr/>
        </p:nvSpPr>
        <p:spPr>
          <a:xfrm>
            <a:off x="685800" y="375878"/>
            <a:ext cx="16002000" cy="1025922"/>
          </a:xfrm>
          <a:prstGeom prst="rect">
            <a:avLst/>
          </a:prstGeom>
        </p:spPr>
        <p:txBody>
          <a:bodyPr wrap="square" lIns="0" tIns="0" rIns="0" bIns="0" rtlCol="0" anchor="t">
            <a:spAutoFit/>
          </a:bodyPr>
          <a:lstStyle/>
          <a:p>
            <a:pPr marL="0" lvl="0" indent="0" algn="l">
              <a:lnSpc>
                <a:spcPts val="8000"/>
              </a:lnSpc>
              <a:spcBef>
                <a:spcPct val="0"/>
              </a:spcBef>
            </a:pPr>
            <a:r>
              <a:rPr lang="en-US" sz="8000" u="none" strike="noStrike" dirty="0">
                <a:solidFill>
                  <a:srgbClr val="4A90E2"/>
                </a:solidFill>
                <a:latin typeface="Georgia Pro Condensed"/>
                <a:ea typeface="Georgia Pro Condensed"/>
                <a:cs typeface="Georgia Pro Condensed"/>
                <a:sym typeface="Georgia Pro Condensed"/>
              </a:rPr>
              <a:t>Future Impact of Fuel Efficiency</a:t>
            </a:r>
          </a:p>
        </p:txBody>
      </p:sp>
      <p:sp>
        <p:nvSpPr>
          <p:cNvPr id="8" name="TextBox 8"/>
          <p:cNvSpPr txBox="1"/>
          <p:nvPr/>
        </p:nvSpPr>
        <p:spPr>
          <a:xfrm>
            <a:off x="457200" y="2312503"/>
            <a:ext cx="11353800" cy="7598619"/>
          </a:xfrm>
          <a:prstGeom prst="rect">
            <a:avLst/>
          </a:prstGeom>
        </p:spPr>
        <p:txBody>
          <a:bodyPr wrap="square" lIns="0" tIns="0" rIns="0" bIns="0" rtlCol="0" anchor="t">
            <a:spAutoFit/>
          </a:bodyPr>
          <a:lstStyle/>
          <a:p>
            <a:pPr marL="539749" lvl="1" indent="-269875" algn="l">
              <a:lnSpc>
                <a:spcPts val="3499"/>
              </a:lnSpc>
              <a:buFont typeface="Arial"/>
              <a:buChar char="•"/>
            </a:pPr>
            <a:r>
              <a:rPr lang="en-US" sz="4000" spc="-37" dirty="0">
                <a:solidFill>
                  <a:srgbClr val="FFFFFF"/>
                </a:solidFill>
                <a:latin typeface="Times New Roman" panose="02020603050405020304" pitchFamily="18" charset="0"/>
                <a:ea typeface="Helvetica World"/>
                <a:cs typeface="Times New Roman" panose="02020603050405020304" pitchFamily="18" charset="0"/>
                <a:sym typeface="Helvetica World"/>
              </a:rPr>
              <a:t>R</a:t>
            </a: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educed fuel consumption and cost for users</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Lower carbon emissions, helping the environment</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Promotion of sustainable transportation</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Encourages development of smarter, energy-efficient vehicles</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Supports government policies on energy conservation and climate change</a:t>
            </a:r>
          </a:p>
          <a:p>
            <a:pPr marL="539749" lvl="1" indent="-269875" algn="l">
              <a:lnSpc>
                <a:spcPts val="3499"/>
              </a:lnSpc>
              <a:buFont typeface="Arial"/>
              <a:buChar char="•"/>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Helps manufacturers design lighter and more efficient engines</a:t>
            </a:r>
          </a:p>
          <a:p>
            <a:pPr marL="269874" lvl="1" algn="l">
              <a:lnSpc>
                <a:spcPts val="3499"/>
              </a:lnSpc>
            </a:pPr>
            <a:endPar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endParaRPr>
          </a:p>
          <a:p>
            <a:pPr marL="539749" lvl="1" indent="-269875" algn="l">
              <a:lnSpc>
                <a:spcPts val="3499"/>
              </a:lnSpc>
              <a:buFont typeface="Arial"/>
              <a:buChar char="•"/>
            </a:pPr>
            <a:r>
              <a:rPr lang="en-US" sz="4000" u="none" strike="noStrike" spc="-37" dirty="0">
                <a:solidFill>
                  <a:srgbClr val="FFFFFF"/>
                </a:solidFill>
                <a:latin typeface="Times New Roman" panose="02020603050405020304" pitchFamily="18" charset="0"/>
                <a:ea typeface="Helvetica World"/>
                <a:cs typeface="Times New Roman" panose="02020603050405020304" pitchFamily="18" charset="0"/>
                <a:sym typeface="Helvetica World"/>
              </a:rPr>
              <a:t>Benefits urban air quality and public health</a:t>
            </a:r>
          </a:p>
          <a:p>
            <a:pPr marL="0" lvl="0" indent="0" algn="l">
              <a:lnSpc>
                <a:spcPts val="3499"/>
              </a:lnSpc>
            </a:pPr>
            <a:endParaRPr lang="en-US" sz="2499" u="none" strike="noStrike" spc="-37" dirty="0">
              <a:solidFill>
                <a:srgbClr val="FFFFFF"/>
              </a:solidFill>
              <a:latin typeface="Helvetica World"/>
              <a:ea typeface="Helvetica World"/>
              <a:cs typeface="Helvetica World"/>
              <a:sym typeface="Helvetica Wor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sp>
        <p:nvSpPr>
          <p:cNvPr id="19" name="TextBox 19"/>
          <p:cNvSpPr txBox="1"/>
          <p:nvPr/>
        </p:nvSpPr>
        <p:spPr>
          <a:xfrm>
            <a:off x="892629" y="419100"/>
            <a:ext cx="16954500" cy="1025922"/>
          </a:xfrm>
          <a:prstGeom prst="rect">
            <a:avLst/>
          </a:prstGeom>
        </p:spPr>
        <p:txBody>
          <a:bodyPr lIns="0" tIns="0" rIns="0" bIns="0" rtlCol="0" anchor="t">
            <a:spAutoFit/>
          </a:bodyPr>
          <a:lstStyle/>
          <a:p>
            <a:pPr marL="0" lvl="0" indent="0" algn="l">
              <a:lnSpc>
                <a:spcPts val="8000"/>
              </a:lnSpc>
            </a:pPr>
            <a:r>
              <a:rPr lang="en-US" sz="8000" dirty="0">
                <a:solidFill>
                  <a:srgbClr val="4A90E2"/>
                </a:solidFill>
                <a:latin typeface="Georgia Pro Condensed"/>
                <a:ea typeface="Georgia Pro Condensed"/>
                <a:cs typeface="Georgia Pro Condensed"/>
                <a:sym typeface="Georgia Pro Condensed"/>
              </a:rPr>
              <a:t>References</a:t>
            </a:r>
          </a:p>
        </p:txBody>
      </p:sp>
      <p:sp>
        <p:nvSpPr>
          <p:cNvPr id="22" name="Title 21">
            <a:extLst>
              <a:ext uri="{FF2B5EF4-FFF2-40B4-BE49-F238E27FC236}">
                <a16:creationId xmlns:a16="http://schemas.microsoft.com/office/drawing/2014/main" id="{7F4D5E08-DDEF-FDFD-1073-0974AED61E9B}"/>
              </a:ext>
            </a:extLst>
          </p:cNvPr>
          <p:cNvSpPr>
            <a:spLocks noGrp="1"/>
          </p:cNvSpPr>
          <p:nvPr>
            <p:ph type="title"/>
          </p:nvPr>
        </p:nvSpPr>
        <p:spPr>
          <a:xfrm>
            <a:off x="419100" y="1638300"/>
            <a:ext cx="17449800" cy="8458200"/>
          </a:xfrm>
        </p:spPr>
        <p:txBody>
          <a:bodyPr/>
          <a:lstStyle/>
          <a:p>
            <a:r>
              <a:rPr lang="en-IN" sz="3200" dirty="0">
                <a:latin typeface="Times New Roman" panose="02020603050405020304" pitchFamily="18" charset="0"/>
                <a:cs typeface="Times New Roman" panose="02020603050405020304" pitchFamily="18" charset="0"/>
              </a:rPr>
              <a:t>1. S Yoo, J Shin, SH Choi - Scientific Reports, 2025 - nature.com. " Machine learning vehicle fuel efficiency prediction." Scientific Reports volume 15, Article number: 14815 (2025)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2. Zhang, Y., et al. (2025). Machine learning-based prediction of vehicle fuel consumption and Efficiency using real-world driving data. Scientific Reports, Nature.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3. Li, X., et al. (2025). Data-driven approaches for vehicle fuel efficiency analysis and sustainability assessment. Sustainability, MDPI, 17(6), 2395.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4. </a:t>
            </a:r>
            <a:r>
              <a:rPr lang="en-IN" sz="3200" dirty="0" err="1">
                <a:latin typeface="Times New Roman" panose="02020603050405020304" pitchFamily="18" charset="0"/>
                <a:cs typeface="Times New Roman" panose="02020603050405020304" pitchFamily="18" charset="0"/>
              </a:rPr>
              <a:t>Breiman</a:t>
            </a:r>
            <a:r>
              <a:rPr lang="en-IN" sz="3200" dirty="0">
                <a:latin typeface="Times New Roman" panose="02020603050405020304" pitchFamily="18" charset="0"/>
                <a:cs typeface="Times New Roman" panose="02020603050405020304" pitchFamily="18" charset="0"/>
              </a:rPr>
              <a:t>, L. (2001). Random Forests. Machine Learning, 45(1), 5–32.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5. Friedman, J. H. (2001). Greedy function approximation: A gradient boosting machine. Annals of Statistics, 29(5), 1189–1232.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6. Hastie, T., </a:t>
            </a:r>
            <a:r>
              <a:rPr lang="en-IN" sz="3200" dirty="0" err="1">
                <a:latin typeface="Times New Roman" panose="02020603050405020304" pitchFamily="18" charset="0"/>
                <a:cs typeface="Times New Roman" panose="02020603050405020304" pitchFamily="18" charset="0"/>
              </a:rPr>
              <a:t>Tibshirani</a:t>
            </a:r>
            <a:r>
              <a:rPr lang="en-IN" sz="3200" dirty="0">
                <a:latin typeface="Times New Roman" panose="02020603050405020304" pitchFamily="18" charset="0"/>
                <a:cs typeface="Times New Roman" panose="02020603050405020304" pitchFamily="18" charset="0"/>
              </a:rPr>
              <a:t>, R., &amp; Friedman, J. (2009). The Elements of Statistical Learning: Data Mining, Inference, and Prediction. Springer.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7. UCI Machine Learning Repository (2023). Auto MPG Dataset. Retrieved from: https://archive.ics.uci.edu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8. Pedregosa, F., et al. (2011). Scikit-learn: Machine learning in Python. Journal of Machine Learning Research, 12, 2825–2830.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9. </a:t>
            </a:r>
            <a:r>
              <a:rPr lang="en-IN" sz="3200" dirty="0" err="1">
                <a:latin typeface="Times New Roman" panose="02020603050405020304" pitchFamily="18" charset="0"/>
                <a:cs typeface="Times New Roman" panose="02020603050405020304" pitchFamily="18" charset="0"/>
              </a:rPr>
              <a:t>Streamlit</a:t>
            </a:r>
            <a:r>
              <a:rPr lang="en-IN" sz="3200" dirty="0">
                <a:latin typeface="Times New Roman" panose="02020603050405020304" pitchFamily="18" charset="0"/>
                <a:cs typeface="Times New Roman" panose="02020603050405020304" pitchFamily="18" charset="0"/>
              </a:rPr>
              <a:t> Documentation (2024). Building Data Apps in Python. Retrieved from: https://docs.streamlit.io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735"/>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blipFill>
              <a:blip r:embed="rId2"/>
              <a:stretch>
                <a:fillRect l="-48181" r="-48181"/>
              </a:stretch>
            </a:blipFill>
          </p:spPr>
        </p:sp>
      </p:grpSp>
      <p:sp>
        <p:nvSpPr>
          <p:cNvPr id="4" name="Freeform 4"/>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9129486" y="4457700"/>
            <a:ext cx="8317491" cy="1999134"/>
          </a:xfrm>
          <a:prstGeom prst="rect">
            <a:avLst/>
          </a:prstGeom>
        </p:spPr>
        <p:txBody>
          <a:bodyPr lIns="0" tIns="0" rIns="0" bIns="0" rtlCol="0" anchor="t">
            <a:spAutoFit/>
          </a:bodyPr>
          <a:lstStyle/>
          <a:p>
            <a:pPr marL="0" lvl="0" indent="0" algn="l">
              <a:lnSpc>
                <a:spcPts val="14956"/>
              </a:lnSpc>
            </a:pPr>
            <a:r>
              <a:rPr lang="en-US" sz="14956" spc="-523" dirty="0">
                <a:solidFill>
                  <a:srgbClr val="4A90E2"/>
                </a:solidFill>
                <a:latin typeface="Georgia Pro Condensed"/>
                <a:ea typeface="Georgia Pro Condensed"/>
                <a:cs typeface="Georgia Pro Condensed"/>
                <a:sym typeface="Georgia Pro Condensed"/>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307</TotalTime>
  <Words>598</Words>
  <Application>Microsoft Office PowerPoint</Application>
  <PresentationFormat>Custom</PresentationFormat>
  <Paragraphs>89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Times New Roman</vt:lpstr>
      <vt:lpstr>Georgia Pro Condensed</vt:lpstr>
      <vt:lpstr>Wingdings 3</vt:lpstr>
      <vt:lpstr>Century Gothic</vt:lpstr>
      <vt:lpstr>Helvetica World</vt:lpstr>
      <vt:lpstr>Arial</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S Yoo, J Shin, SH Choi - Scientific Reports, 2025 - nature.com. " Machine learning vehicle fuel efficiency prediction." Scientific Reports volume 15, Article number: 14815 (2025)  2. Zhang, Y., et al. (2025). Machine learning-based prediction of vehicle fuel consumption and Efficiency using real-world driving data. Scientific Reports, Nature.  3. Li, X., et al. (2025). Data-driven approaches for vehicle fuel efficiency analysis and sustainability assessment. Sustainability, MDPI, 17(6), 2395.  4. Breiman, L. (2001). Random Forests. Machine Learning, 45(1), 5–32.  5. Friedman, J. H. (2001). Greedy function approximation: A gradient boosting machine. Annals of Statistics, 29(5), 1189–1232.  6. Hastie, T., Tibshirani, R., &amp; Friedman, J. (2009). The Elements of Statistical Learning: Data Mining, Inference, and Prediction. Springer.  7. UCI Machine Learning Repository (2023). Auto MPG Dataset. Retrieved from: https://archive.ics.uci.edu  8. Pedregosa, F., et al. (2011). Scikit-learn: Machine learning in Python. Journal of Machine Learning Research, 12, 2825–2830.  9. Streamlit Documentation (2024). Building Data Apps in Python. Retrieved from: https://docs.streamlit.io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Fuel Efficiency Prediction</dc:title>
  <dc:creator>Sahil Mehra</dc:creator>
  <dc:description>Presentation - Fuel Efficiency Prediction</dc:description>
  <cp:lastModifiedBy>sakshi gupta</cp:lastModifiedBy>
  <cp:revision>5</cp:revision>
  <dcterms:created xsi:type="dcterms:W3CDTF">2006-08-16T00:00:00Z</dcterms:created>
  <dcterms:modified xsi:type="dcterms:W3CDTF">2026-02-11T04:18:05Z</dcterms:modified>
  <dc:identifier>DAHA1TU8MH4</dc:identifier>
</cp:coreProperties>
</file>